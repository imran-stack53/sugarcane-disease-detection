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1" r:id="rId6"/>
    <p:sldId id="264" r:id="rId7"/>
    <p:sldId id="262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740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747747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BF5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486400" y="457200"/>
            <a:ext cx="3474720" cy="3474720"/>
          </a:xfrm>
          <a:prstGeom prst="ellipse">
            <a:avLst/>
          </a:prstGeom>
          <a:solidFill>
            <a:srgbClr val="D6EAF8">
              <a:alpha val="70000"/>
            </a:srgbClr>
          </a:solidFill>
          <a:ln w="25400">
            <a:solidFill>
              <a:srgbClr val="AED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035040" y="1005840"/>
            <a:ext cx="2377440" cy="2377440"/>
          </a:xfrm>
          <a:prstGeom prst="ellipse">
            <a:avLst/>
          </a:prstGeom>
          <a:solidFill>
            <a:srgbClr val="AED6F1">
              <a:alpha val="50000"/>
            </a:srgbClr>
          </a:solidFill>
          <a:ln w="12700">
            <a:solidFill>
              <a:srgbClr val="AED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0" y="109728"/>
            <a:ext cx="228600" cy="502920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548640"/>
            <a:ext cx="7315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4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Sugarcane Leaf Disease Detection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457200" y="137160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Deep Learning with Explainable AI (Grad-CAM)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57200" y="1952244"/>
            <a:ext cx="4572000" cy="36576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7200" y="2176272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Group members: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057400" y="2212848"/>
            <a:ext cx="5943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00" b="1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Imran</a:t>
            </a:r>
            <a:r>
              <a:rPr lang="en-US" sz="13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(f23ari66@aror.edu.pk)   </a:t>
            </a:r>
          </a:p>
          <a:p>
            <a:r>
              <a:rPr lang="en-US" sz="1300" b="1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 Saeed </a:t>
            </a:r>
            <a:r>
              <a:rPr lang="en-US" sz="13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(f23ari69@aror.edu.pk)  </a:t>
            </a:r>
          </a:p>
          <a:p>
            <a:r>
              <a:rPr lang="en-US" sz="1300" b="1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Shafique Ahmed </a:t>
            </a:r>
            <a:r>
              <a:rPr lang="en-US" sz="13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(f23ari52@aror.edu.pk) 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2596896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</a:p>
          <a:p>
            <a:pPr marL="0" indent="0">
              <a:buNone/>
            </a:pPr>
            <a:r>
              <a:rPr lang="en-US" sz="13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 :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057400" y="2626876"/>
            <a:ext cx="5943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>
              <a:solidFill>
                <a:srgbClr val="1B263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3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Faheem Akhtar Rajput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301752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Affiliation: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057400" y="3092958"/>
            <a:ext cx="5943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Artificial intelligence 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3438144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Date: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057400" y="3475863"/>
            <a:ext cx="5943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4, 2026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3858768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Domain: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057400" y="3896487"/>
            <a:ext cx="5943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Vision · Deep Learning · AI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4073"/>
          </a:solidFill>
          <a:ln w="12700">
            <a:solidFill>
              <a:srgbClr val="1E40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9144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Outline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046720" y="91440"/>
            <a:ext cx="822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17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0" y="5029200"/>
            <a:ext cx="9144000" cy="27432"/>
          </a:xfrm>
          <a:prstGeom prst="rect">
            <a:avLst/>
          </a:prstGeom>
          <a:solidFill>
            <a:srgbClr val="AED6F1"/>
          </a:solidFill>
          <a:ln w="12700">
            <a:solidFill>
              <a:srgbClr val="AED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65760" y="7772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4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Will Cover Today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320040" y="1298448"/>
            <a:ext cx="4206240" cy="457200"/>
          </a:xfrm>
          <a:prstGeom prst="rect">
            <a:avLst/>
          </a:prstGeom>
          <a:solidFill>
            <a:srgbClr val="EBF5FB"/>
          </a:solidFill>
          <a:ln w="6350">
            <a:solidFill>
              <a:srgbClr val="AED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93192" y="1298448"/>
            <a:ext cx="4389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68680" y="1298448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68680" y="1536192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sugarcane disease detection matters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20040" y="1828800"/>
            <a:ext cx="42062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AED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93192" y="1828800"/>
            <a:ext cx="4389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68680" y="18288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68680" y="2066544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problems exist today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93192" y="2359152"/>
            <a:ext cx="4389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68680" y="2359152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68680" y="2527342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74320" y="2880360"/>
            <a:ext cx="42062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AED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93192" y="2889504"/>
            <a:ext cx="4389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68680" y="2359152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32104" y="2670048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other researchers have done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20040" y="3419856"/>
            <a:ext cx="4206240" cy="457200"/>
          </a:xfrm>
          <a:prstGeom prst="rect">
            <a:avLst/>
          </a:prstGeom>
          <a:solidFill>
            <a:srgbClr val="EBF5FB"/>
          </a:solidFill>
          <a:ln w="6350">
            <a:solidFill>
              <a:srgbClr val="AED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93192" y="3419856"/>
            <a:ext cx="4389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68680" y="3419856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Gap &amp; Baseline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68680" y="3657600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missing &amp; which models we compared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93192" y="3950208"/>
            <a:ext cx="4389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320040" y="4480560"/>
            <a:ext cx="4206240" cy="457200"/>
          </a:xfrm>
          <a:prstGeom prst="rect">
            <a:avLst/>
          </a:prstGeom>
          <a:solidFill>
            <a:srgbClr val="EBF5FB"/>
          </a:solidFill>
          <a:ln w="6350">
            <a:solidFill>
              <a:srgbClr val="AED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393192" y="4480560"/>
            <a:ext cx="4389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868680" y="2816352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Objectives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832104" y="3130846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aim to achieve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800600" y="1298448"/>
            <a:ext cx="42062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AED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4873752" y="1298448"/>
            <a:ext cx="4389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832104" y="3925849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Methodology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804672" y="4255033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Step-by-step plan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800600" y="1836445"/>
            <a:ext cx="4206240" cy="457200"/>
          </a:xfrm>
          <a:prstGeom prst="rect">
            <a:avLst/>
          </a:prstGeom>
          <a:solidFill>
            <a:srgbClr val="EBF5FB"/>
          </a:solidFill>
          <a:ln w="6350">
            <a:solidFill>
              <a:srgbClr val="AED6F1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4873752" y="1828800"/>
            <a:ext cx="4389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868680" y="44808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868680" y="4785385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Photos used for training the AI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837178" y="2313432"/>
            <a:ext cx="42062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AED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4873752" y="2359152"/>
            <a:ext cx="4389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5349240" y="1289304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Results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5349240" y="1590306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expect to find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4800600" y="2889504"/>
            <a:ext cx="4206240" cy="457200"/>
          </a:xfrm>
          <a:prstGeom prst="rect">
            <a:avLst/>
          </a:prstGeom>
          <a:solidFill>
            <a:srgbClr val="EBF5FB"/>
          </a:solidFill>
          <a:ln w="6350">
            <a:solidFill>
              <a:srgbClr val="AED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4873752" y="2889504"/>
            <a:ext cx="4389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5349238" y="1833897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Significance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5349238" y="2125006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work is important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4800600" y="3419856"/>
            <a:ext cx="42062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AED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4873752" y="3419856"/>
            <a:ext cx="4389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300" dirty="0"/>
          </a:p>
        </p:txBody>
      </p:sp>
      <p:sp>
        <p:nvSpPr>
          <p:cNvPr id="55" name="Text 53"/>
          <p:cNvSpPr/>
          <p:nvPr/>
        </p:nvSpPr>
        <p:spPr>
          <a:xfrm>
            <a:off x="5349240" y="2274308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5349238" y="2592399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12-week project plan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5349238" y="2900597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1200" dirty="0"/>
          </a:p>
        </p:txBody>
      </p:sp>
      <p:sp>
        <p:nvSpPr>
          <p:cNvPr id="60" name="Text 58"/>
          <p:cNvSpPr/>
          <p:nvPr/>
        </p:nvSpPr>
        <p:spPr>
          <a:xfrm>
            <a:off x="5349240" y="3205796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comes next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5349238" y="3408613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 </a:t>
            </a:r>
            <a:endParaRPr lang="en-US" sz="1200" dirty="0"/>
          </a:p>
        </p:txBody>
      </p:sp>
      <p:sp>
        <p:nvSpPr>
          <p:cNvPr id="64" name="Text 62"/>
          <p:cNvSpPr/>
          <p:nvPr/>
        </p:nvSpPr>
        <p:spPr>
          <a:xfrm>
            <a:off x="5312664" y="3704070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Papers [1]–[9] with full citations &amp; DOIs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5349240" y="5010912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4073"/>
          </a:solidFill>
          <a:ln w="12700">
            <a:solidFill>
              <a:srgbClr val="1E40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9144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046720" y="91440"/>
            <a:ext cx="822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17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0" y="5029200"/>
            <a:ext cx="9144000" cy="27432"/>
          </a:xfrm>
          <a:prstGeom prst="rect">
            <a:avLst/>
          </a:prstGeom>
          <a:solidFill>
            <a:srgbClr val="AED6F1"/>
          </a:solidFill>
          <a:ln w="12700">
            <a:solidFill>
              <a:srgbClr val="AED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74320" y="5047488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Sugarcane Disease Detection · MobileNetV2 + XAI · 2026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20040" y="822960"/>
            <a:ext cx="4023360" cy="4023360"/>
          </a:xfrm>
          <a:prstGeom prst="rect">
            <a:avLst/>
          </a:prstGeom>
          <a:solidFill>
            <a:srgbClr val="EBF5FB"/>
          </a:solidFill>
          <a:ln w="12700">
            <a:solidFill>
              <a:srgbClr val="AED6F1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02920" y="914400"/>
            <a:ext cx="3657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4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02920" y="1426464"/>
            <a:ext cx="201168" cy="201168"/>
          </a:xfrm>
          <a:prstGeom prst="ellipse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77240" y="1371600"/>
            <a:ext cx="33832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Sugarcane is one of the world's biggest crops — grown in over 100 countries.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02920" y="2084832"/>
            <a:ext cx="201168" cy="201168"/>
          </a:xfrm>
          <a:prstGeom prst="ellipse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77240" y="2029968"/>
            <a:ext cx="33832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used to make sugar, ethanol fuel, and many other products.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02920" y="2743200"/>
            <a:ext cx="201168" cy="201168"/>
          </a:xfrm>
          <a:prstGeom prst="ellipse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77240" y="2688336"/>
            <a:ext cx="33832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Diseases attack the leaves and reduce how much crop is produced each year.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02920" y="3401568"/>
            <a:ext cx="201168" cy="201168"/>
          </a:xfrm>
          <a:prstGeom prst="ellipse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77240" y="3346704"/>
            <a:ext cx="33832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Farmers currently check plants by hand — which takes a long time and is not always correct.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0" y="822960"/>
            <a:ext cx="4251960" cy="4023360"/>
          </a:xfrm>
          <a:prstGeom prst="rect">
            <a:avLst/>
          </a:prstGeom>
          <a:solidFill>
            <a:srgbClr val="E8F8F5"/>
          </a:solidFill>
          <a:ln w="12700">
            <a:solidFill>
              <a:srgbClr val="A9DFBF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754880" y="914400"/>
            <a:ext cx="3840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754880" y="1371600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 system that looks at a photo of a sugarcane leaf and tells the farmer which disease is present — fast, correctly, and with a visual explanation.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754880" y="2331720"/>
            <a:ext cx="39319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A9D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892040" y="23774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MobileNetV2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892040" y="263347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Small, fast AI model — runs on basic devices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754880" y="3081528"/>
            <a:ext cx="39319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A9D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892040" y="312724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Transfer Learning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892040" y="33832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Starts with knowledge from millions of other images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754880" y="3831336"/>
            <a:ext cx="39319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A9D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892040" y="387705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Grad-CAM (XAI)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892040" y="413308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Draws a colour map to show where the disease is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4073"/>
          </a:solidFill>
          <a:ln w="12700">
            <a:solidFill>
              <a:srgbClr val="1E40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9144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046720" y="91440"/>
            <a:ext cx="822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17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0" y="5029200"/>
            <a:ext cx="9144000" cy="27432"/>
          </a:xfrm>
          <a:prstGeom prst="rect">
            <a:avLst/>
          </a:prstGeom>
          <a:solidFill>
            <a:srgbClr val="AED6F1"/>
          </a:solidFill>
          <a:ln w="12700">
            <a:solidFill>
              <a:srgbClr val="AED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74320" y="5047488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Sugarcane Disease Detection · MobileNetV2 + XAI · 2026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20040" y="777240"/>
            <a:ext cx="8503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4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main problems exist with current disease detection methods: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20040" y="1261872"/>
            <a:ext cx="4114800" cy="1664208"/>
          </a:xfrm>
          <a:prstGeom prst="rect">
            <a:avLst/>
          </a:prstGeom>
          <a:solidFill>
            <a:srgbClr val="EBF5FB"/>
          </a:solidFill>
          <a:ln w="12700">
            <a:solidFill>
              <a:srgbClr val="AED6F1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84632" y="1371600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4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Too Slow by Hand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20040" y="1737360"/>
            <a:ext cx="4114800" cy="27432"/>
          </a:xfrm>
          <a:prstGeom prst="rect">
            <a:avLst/>
          </a:prstGeom>
          <a:solidFill>
            <a:srgbClr val="AED6F1"/>
          </a:solidFill>
          <a:ln w="12700">
            <a:solidFill>
              <a:srgbClr val="AED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84632" y="1810512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farmer checking every plant one by one takes days. On large farms this is impossible to do in time.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754880" y="1261872"/>
            <a:ext cx="4114800" cy="1664208"/>
          </a:xfrm>
          <a:prstGeom prst="rect">
            <a:avLst/>
          </a:prstGeom>
          <a:solidFill>
            <a:srgbClr val="FEF9E7"/>
          </a:solidFill>
          <a:ln w="12700">
            <a:solidFill>
              <a:srgbClr val="AED6F1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919472" y="1371600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4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📉  Too Few Training Photos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754880" y="1737360"/>
            <a:ext cx="4114800" cy="27432"/>
          </a:xfrm>
          <a:prstGeom prst="rect">
            <a:avLst/>
          </a:prstGeom>
          <a:solidFill>
            <a:srgbClr val="AED6F1"/>
          </a:solidFill>
          <a:ln w="12700">
            <a:solidFill>
              <a:srgbClr val="AED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919472" y="1810512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AI systems were trained on fewer than 3,000 images, so they do not work well on new farms or plants they have not seen before.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20040" y="3044952"/>
            <a:ext cx="4114800" cy="1664208"/>
          </a:xfrm>
          <a:prstGeom prst="rect">
            <a:avLst/>
          </a:prstGeom>
          <a:solidFill>
            <a:srgbClr val="FEF5E7"/>
          </a:solidFill>
          <a:ln w="12700">
            <a:solidFill>
              <a:srgbClr val="AED6F1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84632" y="3154680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4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💾  Too Heavy to Run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320040" y="3520440"/>
            <a:ext cx="4114800" cy="27432"/>
          </a:xfrm>
          <a:prstGeom prst="rect">
            <a:avLst/>
          </a:prstGeom>
          <a:solidFill>
            <a:srgbClr val="AED6F1"/>
          </a:solidFill>
          <a:ln w="12700">
            <a:solidFill>
              <a:srgbClr val="AED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84632" y="3593592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AI models need powerful computers that farmers cannot afford. They cannot run on a phone or small device.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754880" y="3044952"/>
            <a:ext cx="4114800" cy="1664208"/>
          </a:xfrm>
          <a:prstGeom prst="rect">
            <a:avLst/>
          </a:prstGeom>
          <a:solidFill>
            <a:srgbClr val="FDEDEC"/>
          </a:solidFill>
          <a:ln w="12700">
            <a:solidFill>
              <a:srgbClr val="AED6F1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919472" y="3154680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4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❓  No Explanation Given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4754880" y="3520440"/>
            <a:ext cx="4114800" cy="27432"/>
          </a:xfrm>
          <a:prstGeom prst="rect">
            <a:avLst/>
          </a:prstGeom>
          <a:solidFill>
            <a:srgbClr val="AED6F1"/>
          </a:solidFill>
          <a:ln w="12700">
            <a:solidFill>
              <a:srgbClr val="AED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919472" y="3593592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AI tools just say 'disease found' but do not show where or why. Farmers cannot verify the answer, so they don't trust it.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4073"/>
          </a:solidFill>
          <a:ln w="12700">
            <a:solidFill>
              <a:srgbClr val="1E40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9144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046720" y="91440"/>
            <a:ext cx="822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17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0" y="5029200"/>
            <a:ext cx="9144000" cy="27432"/>
          </a:xfrm>
          <a:prstGeom prst="rect">
            <a:avLst/>
          </a:prstGeom>
          <a:solidFill>
            <a:srgbClr val="AED6F1"/>
          </a:solidFill>
          <a:ln w="12700">
            <a:solidFill>
              <a:srgbClr val="AED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74320" y="5047488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Sugarcane Disease Detection · MobileNetV2 + XAI · 2026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20040" y="777240"/>
            <a:ext cx="8503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4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other researchers have done — and what we learned from them: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20040" y="1234440"/>
            <a:ext cx="2286000" cy="41148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93192" y="123444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651760" y="1234440"/>
            <a:ext cx="1463040" cy="41148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724912" y="123444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Used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160520" y="1234440"/>
            <a:ext cx="1280160" cy="41148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233672" y="123444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Size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0" y="1234440"/>
            <a:ext cx="3337560" cy="41148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559552" y="1234440"/>
            <a:ext cx="3246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20040" y="1664208"/>
            <a:ext cx="8503920" cy="402336"/>
          </a:xfrm>
          <a:prstGeom prst="rect">
            <a:avLst/>
          </a:prstGeom>
          <a:solidFill>
            <a:srgbClr val="EBF5FB"/>
          </a:solidFill>
          <a:ln w="6350">
            <a:solidFill>
              <a:srgbClr val="AED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93192" y="1664208"/>
            <a:ext cx="22128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Budhale &amp; Patil (2026)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724912" y="1664208"/>
            <a:ext cx="138988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+ SVM (Hybrid)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233672" y="1664208"/>
            <a:ext cx="120700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2,521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559552" y="1664208"/>
            <a:ext cx="326440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CNN+SVM achieved 74% accuracy. Used AHE + k-means + GLCM + PCA. No XAI. Mobile integration tested.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20040" y="2084832"/>
            <a:ext cx="850392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AED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93192" y="2084832"/>
            <a:ext cx="22128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Reddy et al. (2025)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724912" y="2084832"/>
            <a:ext cx="138988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MobileNetV2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233672" y="2084832"/>
            <a:ext cx="120700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559552" y="2084832"/>
            <a:ext cx="326440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Fine-tuned MobileNetV2 worked well but used a small dataset — no explanation provided.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20040" y="2505456"/>
            <a:ext cx="8503920" cy="402336"/>
          </a:xfrm>
          <a:prstGeom prst="rect">
            <a:avLst/>
          </a:prstGeom>
          <a:solidFill>
            <a:srgbClr val="EBF5FB"/>
          </a:solidFill>
          <a:ln w="6350">
            <a:solidFill>
              <a:srgbClr val="AED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393192" y="2505456"/>
            <a:ext cx="22128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Kanade &amp; Paygude (2024)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724912" y="2505456"/>
            <a:ext cx="138988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+ SVM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233672" y="2505456"/>
            <a:ext cx="120700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~2,500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559552" y="2505456"/>
            <a:ext cx="326440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CNN and SVM gave moderate accuracy. Dataset too small for reliable generalization.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20040" y="2926080"/>
            <a:ext cx="850392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AED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393192" y="2926080"/>
            <a:ext cx="22128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Bhoomika et al. (2025)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2724912" y="2926080"/>
            <a:ext cx="138988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EfficientNetB0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233672" y="2926080"/>
            <a:ext cx="120700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559552" y="2926080"/>
            <a:ext cx="326440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EfficientNet scored well but needs a powerful computer — not suitable for field devices.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320040" y="3346704"/>
            <a:ext cx="8503920" cy="402336"/>
          </a:xfrm>
          <a:prstGeom prst="rect">
            <a:avLst/>
          </a:prstGeom>
          <a:solidFill>
            <a:srgbClr val="EBF5FB"/>
          </a:solidFill>
          <a:ln w="6350">
            <a:solidFill>
              <a:srgbClr val="AED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393192" y="3346704"/>
            <a:ext cx="22128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Phong &amp; Cuong (2025)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2724912" y="3346704"/>
            <a:ext cx="138988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Neural Net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233672" y="3346704"/>
            <a:ext cx="120700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559552" y="3346704"/>
            <a:ext cx="326440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results on colour images but tested only in lab conditions, not real farms.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320040" y="3767328"/>
            <a:ext cx="850392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AED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393192" y="3767328"/>
            <a:ext cx="22128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Gupta et al. (2023)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2724912" y="3767328"/>
            <a:ext cx="138988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4233672" y="3767328"/>
            <a:ext cx="120700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5559552" y="3767328"/>
            <a:ext cx="326440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Showed deep learning works for sugarcane disease — but no XAI or explainability used.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320040" y="4187952"/>
            <a:ext cx="8503920" cy="402336"/>
          </a:xfrm>
          <a:prstGeom prst="rect">
            <a:avLst/>
          </a:prstGeom>
          <a:solidFill>
            <a:srgbClr val="EBF5FB"/>
          </a:solidFill>
          <a:ln w="6350">
            <a:solidFill>
              <a:srgbClr val="AED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393192" y="4187952"/>
            <a:ext cx="22128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Saravanan et al. (2021)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2724912" y="4187952"/>
            <a:ext cx="138988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Learning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4233672" y="4187952"/>
            <a:ext cx="120700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5559552" y="4187952"/>
            <a:ext cx="326440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learning on sugarcane database achieved strong accuracy across multiple architectures.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4073"/>
          </a:solidFill>
          <a:ln w="12700">
            <a:solidFill>
              <a:srgbClr val="1E40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9144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Objectives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046720" y="91440"/>
            <a:ext cx="822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17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0" y="5029200"/>
            <a:ext cx="9144000" cy="27432"/>
          </a:xfrm>
          <a:prstGeom prst="rect">
            <a:avLst/>
          </a:prstGeom>
          <a:solidFill>
            <a:srgbClr val="AED6F1"/>
          </a:solidFill>
          <a:ln w="12700">
            <a:solidFill>
              <a:srgbClr val="AED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74320" y="5047488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Sugarcane Disease Detection · MobileNetV2 + XAI · 2026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20040" y="777240"/>
            <a:ext cx="8503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4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clear goals guide this research from start to finish: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20040" y="1261872"/>
            <a:ext cx="4114800" cy="1143000"/>
          </a:xfrm>
          <a:prstGeom prst="rect">
            <a:avLst/>
          </a:prstGeom>
          <a:solidFill>
            <a:srgbClr val="EBF5FB"/>
          </a:solidFill>
          <a:ln w="12700">
            <a:solidFill>
              <a:srgbClr val="AED6F1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29768" y="1371600"/>
            <a:ext cx="420624" cy="420624"/>
          </a:xfrm>
          <a:prstGeom prst="ellipse">
            <a:avLst/>
          </a:prstGeom>
          <a:solidFill>
            <a:srgbClr val="1E4073"/>
          </a:solidFill>
          <a:ln w="12700">
            <a:solidFill>
              <a:srgbClr val="1E40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29768" y="137160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41832" y="1353312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4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Diseases Automatically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41832" y="1682496"/>
            <a:ext cx="33832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 AI system that finds sugarcane leaf disease from a photo without human help.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" y="2496312"/>
            <a:ext cx="4114800" cy="1143000"/>
          </a:xfrm>
          <a:prstGeom prst="rect">
            <a:avLst/>
          </a:prstGeom>
          <a:solidFill>
            <a:srgbClr val="EBF5FB"/>
          </a:solidFill>
          <a:ln w="12700">
            <a:solidFill>
              <a:srgbClr val="AED6F1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29768" y="2606040"/>
            <a:ext cx="420624" cy="420624"/>
          </a:xfrm>
          <a:prstGeom prst="ellipse">
            <a:avLst/>
          </a:prstGeom>
          <a:solidFill>
            <a:srgbClr val="1E4073"/>
          </a:solidFill>
          <a:ln w="12700">
            <a:solidFill>
              <a:srgbClr val="1E40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29768" y="260604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41832" y="2587752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4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 Fast, Light Model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41832" y="2916936"/>
            <a:ext cx="33832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MobileNetV2 — a model that works correctly on basic, affordable devices.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0040" y="3730752"/>
            <a:ext cx="4114800" cy="1143000"/>
          </a:xfrm>
          <a:prstGeom prst="rect">
            <a:avLst/>
          </a:prstGeom>
          <a:solidFill>
            <a:srgbClr val="EBF5FB"/>
          </a:solidFill>
          <a:ln w="12700">
            <a:solidFill>
              <a:srgbClr val="AED6F1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29768" y="3840480"/>
            <a:ext cx="420624" cy="420624"/>
          </a:xfrm>
          <a:prstGeom prst="ellipse">
            <a:avLst/>
          </a:prstGeom>
          <a:solidFill>
            <a:srgbClr val="1E4073"/>
          </a:solidFill>
          <a:ln w="12700">
            <a:solidFill>
              <a:srgbClr val="1E40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29768" y="384048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41832" y="3822192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4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All 6 Disease Types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41832" y="4151376"/>
            <a:ext cx="33832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Correctly identify which one of the six known diseases is present in the leaf photo.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54880" y="1261872"/>
            <a:ext cx="4114800" cy="1143000"/>
          </a:xfrm>
          <a:prstGeom prst="rect">
            <a:avLst/>
          </a:prstGeom>
          <a:solidFill>
            <a:srgbClr val="EBF5FB"/>
          </a:solidFill>
          <a:ln w="12700">
            <a:solidFill>
              <a:srgbClr val="AED6F1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864608" y="1371600"/>
            <a:ext cx="420624" cy="420624"/>
          </a:xfrm>
          <a:prstGeom prst="ellipse">
            <a:avLst/>
          </a:prstGeom>
          <a:solidFill>
            <a:srgbClr val="1E4073"/>
          </a:solidFill>
          <a:ln w="12700">
            <a:solidFill>
              <a:srgbClr val="1E40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864608" y="137160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376672" y="1353312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4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on a Large Dataset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376672" y="1682496"/>
            <a:ext cx="33832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19,926 leaf photos so the AI learns from many different examples and works reliably.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754880" y="2496312"/>
            <a:ext cx="4114800" cy="1143000"/>
          </a:xfrm>
          <a:prstGeom prst="rect">
            <a:avLst/>
          </a:prstGeom>
          <a:solidFill>
            <a:srgbClr val="EBF5FB"/>
          </a:solidFill>
          <a:ln w="12700">
            <a:solidFill>
              <a:srgbClr val="AED6F1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4864608" y="2606040"/>
            <a:ext cx="420624" cy="420624"/>
          </a:xfrm>
          <a:prstGeom prst="ellipse">
            <a:avLst/>
          </a:prstGeom>
          <a:solidFill>
            <a:srgbClr val="1E4073"/>
          </a:solidFill>
          <a:ln w="12700">
            <a:solidFill>
              <a:srgbClr val="1E40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864608" y="260604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376672" y="2587752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4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the AI's Decision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376672" y="2916936"/>
            <a:ext cx="33832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Grad-CAM to highlight the exact area on the leaf that the AI used to decide.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754880" y="3730752"/>
            <a:ext cx="4114800" cy="1143000"/>
          </a:xfrm>
          <a:prstGeom prst="rect">
            <a:avLst/>
          </a:prstGeom>
          <a:solidFill>
            <a:srgbClr val="EBF5FB"/>
          </a:solidFill>
          <a:ln w="12700">
            <a:solidFill>
              <a:srgbClr val="AED6F1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4864608" y="3840480"/>
            <a:ext cx="420624" cy="420624"/>
          </a:xfrm>
          <a:prstGeom prst="ellipse">
            <a:avLst/>
          </a:prstGeom>
          <a:solidFill>
            <a:srgbClr val="1E4073"/>
          </a:solidFill>
          <a:ln w="12700">
            <a:solidFill>
              <a:srgbClr val="1E40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4864608" y="384048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5376672" y="3822192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4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it Ready for Real Farms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5376672" y="4151376"/>
            <a:ext cx="33832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the system so it can be used by actual farmers in the field, not just in a lab.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4073"/>
          </a:solidFill>
          <a:ln w="12700">
            <a:solidFill>
              <a:srgbClr val="1E40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9144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Gap &amp; Baseline Identification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046720" y="91440"/>
            <a:ext cx="822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17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0" y="5029200"/>
            <a:ext cx="9144000" cy="27432"/>
          </a:xfrm>
          <a:prstGeom prst="rect">
            <a:avLst/>
          </a:prstGeom>
          <a:solidFill>
            <a:srgbClr val="AED6F1"/>
          </a:solidFill>
          <a:ln w="12700">
            <a:solidFill>
              <a:srgbClr val="AED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74320" y="5047488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Sugarcane Disease Detection · MobileNetV2 + XAI · 2026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20040" y="804672"/>
            <a:ext cx="4114800" cy="4114800"/>
          </a:xfrm>
          <a:prstGeom prst="rect">
            <a:avLst/>
          </a:prstGeom>
          <a:solidFill>
            <a:srgbClr val="FDEDEC"/>
          </a:solidFill>
          <a:ln w="12700">
            <a:solidFill>
              <a:srgbClr val="F1948A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02920" y="896112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What is Missing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02920" y="1417320"/>
            <a:ext cx="3749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✖  Most studies used fewer than 3,000 photos — not enough to be reliable.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" y="2130552"/>
            <a:ext cx="3749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✖  No study added a visual explanation so farmers can understand the result.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2920" y="2843784"/>
            <a:ext cx="3749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✖  Existing heavy models cannot run on a simple mobile phone or small device.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02920" y="3557016"/>
            <a:ext cx="3749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✖  None of the tools are ready to use on a real farm today.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617720" y="804672"/>
            <a:ext cx="4206240" cy="4114800"/>
          </a:xfrm>
          <a:prstGeom prst="rect">
            <a:avLst/>
          </a:prstGeom>
          <a:solidFill>
            <a:srgbClr val="E8F8F5"/>
          </a:solidFill>
          <a:ln w="12700">
            <a:solidFill>
              <a:srgbClr val="A9DFBF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754880" y="896112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Baseline Model Comparison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663440" y="1389888"/>
            <a:ext cx="4069080" cy="457200"/>
          </a:xfrm>
          <a:prstGeom prst="rect">
            <a:avLst/>
          </a:prstGeom>
          <a:solidFill>
            <a:srgbClr val="1E4073"/>
          </a:solidFill>
          <a:ln w="6350">
            <a:solidFill>
              <a:srgbClr val="AED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736592" y="1389888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236208" y="1389888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086600" y="1389888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936992" y="1389888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XAI?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663440" y="1865376"/>
            <a:ext cx="4069080" cy="457200"/>
          </a:xfrm>
          <a:prstGeom prst="rect">
            <a:avLst/>
          </a:prstGeom>
          <a:solidFill>
            <a:srgbClr val="EBF5FB"/>
          </a:solidFill>
          <a:ln w="6350">
            <a:solidFill>
              <a:srgbClr val="AED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736592" y="1865376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+ SVM (Hybrid)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236208" y="1865376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74%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086600" y="1865376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936992" y="1865376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663440" y="2340864"/>
            <a:ext cx="40690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AED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736592" y="2340864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VGG16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236208" y="2340864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~82%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086600" y="2340864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Slow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936992" y="2340864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663440" y="2816352"/>
            <a:ext cx="4069080" cy="457200"/>
          </a:xfrm>
          <a:prstGeom prst="rect">
            <a:avLst/>
          </a:prstGeom>
          <a:solidFill>
            <a:srgbClr val="EBF5FB"/>
          </a:solidFill>
          <a:ln w="6350">
            <a:solidFill>
              <a:srgbClr val="AED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736592" y="2816352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EfficientNetB0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236208" y="2816352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~89%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086600" y="2816352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936992" y="2816352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663440" y="3291840"/>
            <a:ext cx="40690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AED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4736592" y="329184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ResNet50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236208" y="329184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~85%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7086600" y="329184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7936992" y="329184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663440" y="3767328"/>
            <a:ext cx="4069080" cy="457200"/>
          </a:xfrm>
          <a:prstGeom prst="rect">
            <a:avLst/>
          </a:prstGeom>
          <a:solidFill>
            <a:srgbClr val="D5F5E3"/>
          </a:solidFill>
          <a:ln w="6350">
            <a:solidFill>
              <a:srgbClr val="AED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4736592" y="3767328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MobileNetV2 ✓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6236208" y="3767328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&gt;88%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7086600" y="3767328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7936992" y="3767328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4663440" y="4224528"/>
            <a:ext cx="4069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MobileNetV2 selected — best balance of speed, accuracy &amp; explainability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4073"/>
          </a:solidFill>
          <a:ln w="12700">
            <a:solidFill>
              <a:srgbClr val="1E40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9144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Methodology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046720" y="91440"/>
            <a:ext cx="822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17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0" y="5029200"/>
            <a:ext cx="9144000" cy="27432"/>
          </a:xfrm>
          <a:prstGeom prst="rect">
            <a:avLst/>
          </a:prstGeom>
          <a:solidFill>
            <a:srgbClr val="AED6F1"/>
          </a:solidFill>
          <a:ln w="12700">
            <a:solidFill>
              <a:srgbClr val="AED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74320" y="5047488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Sugarcane Disease Detection · MobileNetV2 + XAI · 2026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20040" y="777240"/>
            <a:ext cx="8503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4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6-step pipeline — from collecting photos to getting results: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1435608" y="1664208"/>
            <a:ext cx="320040" cy="109728"/>
          </a:xfrm>
          <a:prstGeom prst="rect">
            <a:avLst/>
          </a:prstGeom>
          <a:solidFill>
            <a:srgbClr val="B0BEC5"/>
          </a:solidFill>
          <a:ln w="12700">
            <a:solidFill>
              <a:srgbClr val="B0BE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709928" y="1581912"/>
            <a:ext cx="201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1261872"/>
            <a:ext cx="822960" cy="822960"/>
          </a:xfrm>
          <a:prstGeom prst="ellipse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57200" y="1261872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320040" y="2176272"/>
            <a:ext cx="1097280" cy="59436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20040" y="2176272"/>
            <a:ext cx="1097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Photos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0040" y="2834640"/>
            <a:ext cx="1097280" cy="1920240"/>
          </a:xfrm>
          <a:prstGeom prst="rect">
            <a:avLst/>
          </a:prstGeom>
          <a:solidFill>
            <a:srgbClr val="EBF5FB"/>
          </a:solidFill>
          <a:ln w="10160">
            <a:solidFill>
              <a:srgbClr val="AED6F1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65760" y="2926080"/>
            <a:ext cx="10058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19,926 sugarcane leaf photos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6 disease types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871216" y="1664208"/>
            <a:ext cx="320040" cy="109728"/>
          </a:xfrm>
          <a:prstGeom prst="rect">
            <a:avLst/>
          </a:prstGeom>
          <a:solidFill>
            <a:srgbClr val="B0BEC5"/>
          </a:solidFill>
          <a:ln w="12700">
            <a:solidFill>
              <a:srgbClr val="B0BE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145536" y="1581912"/>
            <a:ext cx="201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1892808" y="1261872"/>
            <a:ext cx="822960" cy="822960"/>
          </a:xfrm>
          <a:prstGeom prst="ellipse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1892808" y="1261872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1755648" y="2176272"/>
            <a:ext cx="1097280" cy="594360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1755648" y="2176272"/>
            <a:ext cx="1097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 Images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1755648" y="2834640"/>
            <a:ext cx="1097280" cy="1920240"/>
          </a:xfrm>
          <a:prstGeom prst="rect">
            <a:avLst/>
          </a:prstGeom>
          <a:solidFill>
            <a:srgbClr val="EBF5FB"/>
          </a:solidFill>
          <a:ln w="10160">
            <a:solidFill>
              <a:srgbClr val="AED6F1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1801368" y="2926080"/>
            <a:ext cx="10058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Resize, clean, and create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photos by flipping &amp; rotating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306824" y="1664208"/>
            <a:ext cx="320040" cy="109728"/>
          </a:xfrm>
          <a:prstGeom prst="rect">
            <a:avLst/>
          </a:prstGeom>
          <a:solidFill>
            <a:srgbClr val="B0BEC5"/>
          </a:solidFill>
          <a:ln w="12700">
            <a:solidFill>
              <a:srgbClr val="B0BE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581144" y="1581912"/>
            <a:ext cx="201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3328416" y="1261872"/>
            <a:ext cx="822960" cy="822960"/>
          </a:xfrm>
          <a:prstGeom prst="ellipse">
            <a:avLst/>
          </a:prstGeom>
          <a:solidFill>
            <a:srgbClr val="7D3C98"/>
          </a:solidFill>
          <a:ln w="12700">
            <a:solidFill>
              <a:srgbClr val="7D3C9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3328416" y="1261872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29" name="Shape 27"/>
          <p:cNvSpPr/>
          <p:nvPr/>
        </p:nvSpPr>
        <p:spPr>
          <a:xfrm>
            <a:off x="3191256" y="2176272"/>
            <a:ext cx="1097280" cy="594360"/>
          </a:xfrm>
          <a:prstGeom prst="rect">
            <a:avLst/>
          </a:prstGeom>
          <a:solidFill>
            <a:srgbClr val="7D3C98"/>
          </a:solidFill>
          <a:ln w="12700">
            <a:solidFill>
              <a:srgbClr val="7D3C9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3191256" y="2176272"/>
            <a:ext cx="1097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AI Model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191256" y="2834640"/>
            <a:ext cx="1097280" cy="1920240"/>
          </a:xfrm>
          <a:prstGeom prst="rect">
            <a:avLst/>
          </a:prstGeom>
          <a:solidFill>
            <a:srgbClr val="EBF5FB"/>
          </a:solidFill>
          <a:ln w="10160">
            <a:solidFill>
              <a:srgbClr val="AED6F1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3236976" y="2926080"/>
            <a:ext cx="10058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MobileNetV2 with pre-learned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ImageNet knowledge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742432" y="1664208"/>
            <a:ext cx="320040" cy="109728"/>
          </a:xfrm>
          <a:prstGeom prst="rect">
            <a:avLst/>
          </a:prstGeom>
          <a:solidFill>
            <a:srgbClr val="B0BEC5"/>
          </a:solidFill>
          <a:ln w="12700">
            <a:solidFill>
              <a:srgbClr val="B0BE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6016752" y="1581912"/>
            <a:ext cx="201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4764024" y="1261872"/>
            <a:ext cx="822960" cy="822960"/>
          </a:xfrm>
          <a:prstGeom prst="ellipse">
            <a:avLst/>
          </a:prstGeom>
          <a:solidFill>
            <a:srgbClr val="D35400"/>
          </a:solidFill>
          <a:ln w="12700">
            <a:solidFill>
              <a:srgbClr val="D354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4764024" y="1261872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37" name="Shape 35"/>
          <p:cNvSpPr/>
          <p:nvPr/>
        </p:nvSpPr>
        <p:spPr>
          <a:xfrm>
            <a:off x="4626864" y="2176272"/>
            <a:ext cx="1097280" cy="594360"/>
          </a:xfrm>
          <a:prstGeom prst="rect">
            <a:avLst/>
          </a:prstGeom>
          <a:solidFill>
            <a:srgbClr val="D35400"/>
          </a:solidFill>
          <a:ln w="12700">
            <a:solidFill>
              <a:srgbClr val="D354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4626864" y="2176272"/>
            <a:ext cx="1097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the AI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626864" y="2834640"/>
            <a:ext cx="1097280" cy="1920240"/>
          </a:xfrm>
          <a:prstGeom prst="rect">
            <a:avLst/>
          </a:prstGeom>
          <a:solidFill>
            <a:srgbClr val="EBF5FB"/>
          </a:solidFill>
          <a:ln w="10160">
            <a:solidFill>
              <a:srgbClr val="AED6F1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4672584" y="2926080"/>
            <a:ext cx="10058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 the model to recognise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of the 6 diseases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7178040" y="1664208"/>
            <a:ext cx="320040" cy="109728"/>
          </a:xfrm>
          <a:prstGeom prst="rect">
            <a:avLst/>
          </a:prstGeom>
          <a:solidFill>
            <a:srgbClr val="B0BEC5"/>
          </a:solidFill>
          <a:ln w="12700">
            <a:solidFill>
              <a:srgbClr val="B0BE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7452360" y="1581912"/>
            <a:ext cx="201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6199632" y="1261872"/>
            <a:ext cx="822960" cy="82296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6199632" y="1261872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45" name="Shape 43"/>
          <p:cNvSpPr/>
          <p:nvPr/>
        </p:nvSpPr>
        <p:spPr>
          <a:xfrm>
            <a:off x="6062472" y="2176272"/>
            <a:ext cx="1097280" cy="5943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6062472" y="2176272"/>
            <a:ext cx="1097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Explanation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6062472" y="2834640"/>
            <a:ext cx="1097280" cy="1920240"/>
          </a:xfrm>
          <a:prstGeom prst="rect">
            <a:avLst/>
          </a:prstGeom>
          <a:solidFill>
            <a:srgbClr val="EBF5FB"/>
          </a:solidFill>
          <a:ln w="10160">
            <a:solidFill>
              <a:srgbClr val="AED6F1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6108192" y="2926080"/>
            <a:ext cx="10058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Grad-CAM to draw a colour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heatmap on the sick leaf area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7635240" y="1261872"/>
            <a:ext cx="822960" cy="822960"/>
          </a:xfrm>
          <a:prstGeom prst="ellipse">
            <a:avLst/>
          </a:prstGeom>
          <a:solidFill>
            <a:srgbClr val="117A65"/>
          </a:solidFill>
          <a:ln w="12700">
            <a:solidFill>
              <a:srgbClr val="117A6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7635240" y="1261872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200" dirty="0"/>
          </a:p>
        </p:txBody>
      </p:sp>
      <p:sp>
        <p:nvSpPr>
          <p:cNvPr id="51" name="Shape 49"/>
          <p:cNvSpPr/>
          <p:nvPr/>
        </p:nvSpPr>
        <p:spPr>
          <a:xfrm>
            <a:off x="7498080" y="2176272"/>
            <a:ext cx="1097280" cy="594360"/>
          </a:xfrm>
          <a:prstGeom prst="rect">
            <a:avLst/>
          </a:prstGeom>
          <a:solidFill>
            <a:srgbClr val="117A65"/>
          </a:solidFill>
          <a:ln w="12700">
            <a:solidFill>
              <a:srgbClr val="117A6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7498080" y="2176272"/>
            <a:ext cx="1097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&amp; Measure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7498080" y="2834640"/>
            <a:ext cx="1097280" cy="1920240"/>
          </a:xfrm>
          <a:prstGeom prst="rect">
            <a:avLst/>
          </a:prstGeom>
          <a:solidFill>
            <a:srgbClr val="EBF5FB"/>
          </a:solidFill>
          <a:ln w="10160">
            <a:solidFill>
              <a:srgbClr val="AED6F1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7543800" y="2926080"/>
            <a:ext cx="10058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Accuracy, Precision,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Recall, and F1-Score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4073"/>
          </a:solidFill>
          <a:ln w="12700">
            <a:solidFill>
              <a:srgbClr val="1E40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9144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Description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046720" y="91440"/>
            <a:ext cx="822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17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0" y="5029200"/>
            <a:ext cx="9144000" cy="27432"/>
          </a:xfrm>
          <a:prstGeom prst="rect">
            <a:avLst/>
          </a:prstGeom>
          <a:solidFill>
            <a:srgbClr val="AED6F1"/>
          </a:solidFill>
          <a:ln w="12700">
            <a:solidFill>
              <a:srgbClr val="AED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74320" y="5047488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Sugarcane Disease Detection · MobileNetV2 + XAI · 2026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20040" y="804672"/>
            <a:ext cx="2743200" cy="2286000"/>
          </a:xfrm>
          <a:prstGeom prst="rect">
            <a:avLst/>
          </a:prstGeom>
          <a:solidFill>
            <a:srgbClr val="1E4073"/>
          </a:solidFill>
          <a:ln w="12700">
            <a:solidFill>
              <a:srgbClr val="1E4073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20040" y="804672"/>
            <a:ext cx="2743200" cy="13716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19,926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320040" y="2084832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 Photos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20040" y="251460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disease classes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Augmented for better learning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" y="3200400"/>
            <a:ext cx="2743200" cy="1554480"/>
          </a:xfrm>
          <a:prstGeom prst="rect">
            <a:avLst/>
          </a:prstGeom>
          <a:solidFill>
            <a:srgbClr val="FEF9E7"/>
          </a:solidFill>
          <a:ln w="12700">
            <a:solidFill>
              <a:srgbClr val="F9E79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57200" y="329184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D66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📸 Augmentation Methods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3675888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Rotating the image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3950208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Flipping left/right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4224528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Zooming in &amp; out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4498848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Cropping different parts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246120" y="804672"/>
            <a:ext cx="5577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4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Disease Classes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246120" y="1261872"/>
            <a:ext cx="2011680" cy="384048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337560" y="1261872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 Name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303520" y="1261872"/>
            <a:ext cx="3520440" cy="384048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394960" y="1261872"/>
            <a:ext cx="3429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Caused By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246120" y="1664208"/>
            <a:ext cx="5577840" cy="457200"/>
          </a:xfrm>
          <a:prstGeom prst="rect">
            <a:avLst/>
          </a:prstGeom>
          <a:solidFill>
            <a:srgbClr val="EBF5FB"/>
          </a:solidFill>
          <a:ln w="6350">
            <a:solidFill>
              <a:srgbClr val="AED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337560" y="1664208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4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Bacterial Blight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394960" y="1664208"/>
            <a:ext cx="3429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bacteria called Xanthomonas albilineans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246120" y="2139696"/>
            <a:ext cx="55778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AED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337560" y="2139696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4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Healthy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394960" y="2139696"/>
            <a:ext cx="3429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disease — used as control for comparison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246120" y="2615184"/>
            <a:ext cx="5577840" cy="457200"/>
          </a:xfrm>
          <a:prstGeom prst="rect">
            <a:avLst/>
          </a:prstGeom>
          <a:solidFill>
            <a:srgbClr val="EBF5FB"/>
          </a:solidFill>
          <a:ln w="6350">
            <a:solidFill>
              <a:srgbClr val="AED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3337560" y="2615184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4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Mosaic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394960" y="2615184"/>
            <a:ext cx="3429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Sugarcane Mosaic Virus (SCMV)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246120" y="3090672"/>
            <a:ext cx="55778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AED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3337560" y="3090672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4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Rot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394960" y="3090672"/>
            <a:ext cx="3429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fungus called Colletotrichum falcatum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246120" y="3566160"/>
            <a:ext cx="5577840" cy="457200"/>
          </a:xfrm>
          <a:prstGeom prst="rect">
            <a:avLst/>
          </a:prstGeom>
          <a:solidFill>
            <a:srgbClr val="EBF5FB"/>
          </a:solidFill>
          <a:ln w="6350">
            <a:solidFill>
              <a:srgbClr val="AED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3337560" y="356616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4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Rust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394960" y="3566160"/>
            <a:ext cx="3429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fungus called Puccinia melanocephala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3246120" y="4041648"/>
            <a:ext cx="55778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AED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3337560" y="4041648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4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Yellow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5394960" y="4041648"/>
            <a:ext cx="3429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Sugarcane Yellow Leaf Virus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4073"/>
          </a:solidFill>
          <a:ln w="12700">
            <a:solidFill>
              <a:srgbClr val="1E40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9144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Results &amp; Evidence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046720" y="91440"/>
            <a:ext cx="822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17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0" y="5029200"/>
            <a:ext cx="9144000" cy="27432"/>
          </a:xfrm>
          <a:prstGeom prst="rect">
            <a:avLst/>
          </a:prstGeom>
          <a:solidFill>
            <a:srgbClr val="AED6F1"/>
          </a:solidFill>
          <a:ln w="12700">
            <a:solidFill>
              <a:srgbClr val="AED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74320" y="5047488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20040" y="777240"/>
            <a:ext cx="8503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4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the model architecture and dataset size, we expect the following results: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0040" y="1234440"/>
            <a:ext cx="2011680" cy="1463040"/>
          </a:xfrm>
          <a:prstGeom prst="rect">
            <a:avLst/>
          </a:prstGeom>
          <a:solidFill>
            <a:srgbClr val="EBF5FB"/>
          </a:solidFill>
          <a:ln w="12700">
            <a:solidFill>
              <a:srgbClr val="AED6F1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20040" y="1261872"/>
            <a:ext cx="2011680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&gt;91%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320040" y="1965960"/>
            <a:ext cx="2011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4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2148840"/>
            <a:ext cx="1874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every 100 photos,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than 91 correctly identified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496312" y="1234440"/>
            <a:ext cx="2011680" cy="1463040"/>
          </a:xfrm>
          <a:prstGeom prst="rect">
            <a:avLst/>
          </a:prstGeom>
          <a:solidFill>
            <a:srgbClr val="EBF5FB"/>
          </a:solidFill>
          <a:ln w="12700">
            <a:solidFill>
              <a:srgbClr val="AED6F1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496312" y="1261872"/>
            <a:ext cx="2011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&gt;89%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2496312" y="1965960"/>
            <a:ext cx="2011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4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578608" y="2220193"/>
            <a:ext cx="1874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AI says 'disease X',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correct 89+ times out of 100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72584" y="1234440"/>
            <a:ext cx="2011680" cy="1463040"/>
          </a:xfrm>
          <a:prstGeom prst="rect">
            <a:avLst/>
          </a:prstGeom>
          <a:solidFill>
            <a:srgbClr val="EBF5FB"/>
          </a:solidFill>
          <a:ln w="12700">
            <a:solidFill>
              <a:srgbClr val="AED6F1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672584" y="1261872"/>
            <a:ext cx="2011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7D3C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&gt;88%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4672584" y="1965960"/>
            <a:ext cx="2011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4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754880" y="2216895"/>
            <a:ext cx="1874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all real disease cases,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catches 88+ out of every 100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848856" y="1234440"/>
            <a:ext cx="2011680" cy="1463040"/>
          </a:xfrm>
          <a:prstGeom prst="rect">
            <a:avLst/>
          </a:prstGeom>
          <a:solidFill>
            <a:srgbClr val="EBF5FB"/>
          </a:solidFill>
          <a:ln w="12700">
            <a:solidFill>
              <a:srgbClr val="AED6F1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848856" y="1261872"/>
            <a:ext cx="2011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D35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&gt;89%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6848856" y="1965960"/>
            <a:ext cx="2011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4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922008" y="2185416"/>
            <a:ext cx="1874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balance between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and recall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56032" y="2813204"/>
            <a:ext cx="8503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4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Evidence: How our approach compares with published studies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256032" y="3116755"/>
            <a:ext cx="8503920" cy="329184"/>
          </a:xfrm>
          <a:prstGeom prst="rect">
            <a:avLst/>
          </a:prstGeom>
          <a:solidFill>
            <a:srgbClr val="2E86C1"/>
          </a:solidFill>
          <a:ln w="5080">
            <a:solidFill>
              <a:srgbClr val="AED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74904" y="3142388"/>
            <a:ext cx="216712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/ Model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660904" y="3148833"/>
            <a:ext cx="12070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Size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986784" y="3125749"/>
            <a:ext cx="93268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038344" y="3141038"/>
            <a:ext cx="9784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XAI?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149340" y="3163824"/>
            <a:ext cx="26700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 Phone?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274320" y="3557764"/>
            <a:ext cx="8503920" cy="329184"/>
          </a:xfrm>
          <a:prstGeom prst="rect">
            <a:avLst/>
          </a:prstGeom>
          <a:solidFill>
            <a:srgbClr val="FFFFFF"/>
          </a:solidFill>
          <a:ln w="5080">
            <a:solidFill>
              <a:srgbClr val="AED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374904" y="3520440"/>
            <a:ext cx="216712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+ SVM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2660904" y="3553418"/>
            <a:ext cx="12070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~2,500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3986784" y="3578901"/>
            <a:ext cx="93268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~78%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038344" y="3572606"/>
            <a:ext cx="9784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149340" y="3606034"/>
            <a:ext cx="26700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267425" y="4007921"/>
            <a:ext cx="8503920" cy="329184"/>
          </a:xfrm>
          <a:prstGeom prst="rect">
            <a:avLst/>
          </a:prstGeom>
          <a:solidFill>
            <a:srgbClr val="EBF5FB"/>
          </a:solidFill>
          <a:ln w="5080">
            <a:solidFill>
              <a:srgbClr val="AED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310896" y="4046145"/>
            <a:ext cx="216712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EfficientNetB0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2660904" y="4052742"/>
            <a:ext cx="12070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3997052" y="4085267"/>
            <a:ext cx="93268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~89%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5073796" y="4068403"/>
            <a:ext cx="9784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165867" y="4100560"/>
            <a:ext cx="26700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256032" y="4391069"/>
            <a:ext cx="8503920" cy="329184"/>
          </a:xfrm>
          <a:prstGeom prst="rect">
            <a:avLst/>
          </a:prstGeom>
          <a:solidFill>
            <a:srgbClr val="FFFFFF"/>
          </a:solidFill>
          <a:ln w="5080">
            <a:solidFill>
              <a:srgbClr val="AED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338328" y="4430345"/>
            <a:ext cx="216712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ResNet50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2660904" y="4443984"/>
            <a:ext cx="12070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4018788" y="4477412"/>
            <a:ext cx="93268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~85%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5081253" y="4483409"/>
            <a:ext cx="9784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6165342" y="4460326"/>
            <a:ext cx="26700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256032" y="4787561"/>
            <a:ext cx="8503920" cy="329184"/>
          </a:xfrm>
          <a:prstGeom prst="rect">
            <a:avLst/>
          </a:prstGeom>
          <a:solidFill>
            <a:srgbClr val="D5F5E3"/>
          </a:solidFill>
          <a:ln w="5080">
            <a:solidFill>
              <a:srgbClr val="AED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310896" y="4830435"/>
            <a:ext cx="216712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Model (MobileNetV2)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2660904" y="4844671"/>
            <a:ext cx="12070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19,926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4018788" y="4834033"/>
            <a:ext cx="93268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&gt;91%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5129784" y="4830435"/>
            <a:ext cx="9784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✔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6227064" y="4841528"/>
            <a:ext cx="26700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✔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4073"/>
          </a:solidFill>
          <a:ln w="12700">
            <a:solidFill>
              <a:srgbClr val="1E40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9144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Significance of This Study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046720" y="91440"/>
            <a:ext cx="822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17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0" y="5029200"/>
            <a:ext cx="9144000" cy="27432"/>
          </a:xfrm>
          <a:prstGeom prst="rect">
            <a:avLst/>
          </a:prstGeom>
          <a:solidFill>
            <a:srgbClr val="AED6F1"/>
          </a:solidFill>
          <a:ln w="12700">
            <a:solidFill>
              <a:srgbClr val="AED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74320" y="5047488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Sugarcane Disease Detection · MobileNetV2 + XAI · 2026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20040" y="822960"/>
            <a:ext cx="4114800" cy="1325880"/>
          </a:xfrm>
          <a:prstGeom prst="rect">
            <a:avLst/>
          </a:prstGeom>
          <a:solidFill>
            <a:srgbClr val="EBF5FB"/>
          </a:solidFill>
          <a:ln w="12700">
            <a:solidFill>
              <a:srgbClr val="AED6F1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84632" y="914400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4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Early Warning for Farmers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84632" y="1335024"/>
            <a:ext cx="3749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Farmers will know about disease before it spreads to the whole crop — saving time and money.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0040" y="2267712"/>
            <a:ext cx="4114800" cy="1325880"/>
          </a:xfrm>
          <a:prstGeom prst="rect">
            <a:avLst/>
          </a:prstGeom>
          <a:solidFill>
            <a:srgbClr val="FEF9E7"/>
          </a:solidFill>
          <a:ln w="12700">
            <a:solidFill>
              <a:srgbClr val="AED6F1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84632" y="2359152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4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 Less Crop Loss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84632" y="2779776"/>
            <a:ext cx="3749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Catching disease early means farmers can treat just the right plants and waste less effort.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20040" y="3712464"/>
            <a:ext cx="4114800" cy="1261872"/>
          </a:xfrm>
          <a:prstGeom prst="rect">
            <a:avLst/>
          </a:prstGeom>
          <a:solidFill>
            <a:srgbClr val="FDEDEC"/>
          </a:solidFill>
          <a:ln w="12700">
            <a:solidFill>
              <a:srgbClr val="AED6F1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84632" y="3803904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4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Works on Simple Devices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84632" y="4224528"/>
            <a:ext cx="3749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MobileNetV2 is lightweight, the system can run on a basic Android phone in the field.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800600" y="822960"/>
            <a:ext cx="4114800" cy="1325880"/>
          </a:xfrm>
          <a:prstGeom prst="rect">
            <a:avLst/>
          </a:prstGeom>
          <a:solidFill>
            <a:srgbClr val="EBF5FB"/>
          </a:solidFill>
          <a:ln w="12700">
            <a:solidFill>
              <a:srgbClr val="AED6F1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965192" y="914400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4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Farmers Can Trust It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965192" y="1335024"/>
            <a:ext cx="3749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Grad-CAM shows exactly where the disease was found on the leaf — the farmer can see it too.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20040" y="2267712"/>
            <a:ext cx="8503920" cy="1280160"/>
          </a:xfrm>
          <a:prstGeom prst="rect">
            <a:avLst/>
          </a:prstGeom>
          <a:solidFill>
            <a:srgbClr val="E8F8F5"/>
          </a:solidFill>
          <a:ln w="12700">
            <a:solidFill>
              <a:srgbClr val="A9DFBF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02920" y="2359152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Useful for Many Crops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02920" y="2770632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approach can be applied to detect diseases in wheat, cotton, rice, and other crops.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4073"/>
          </a:solidFill>
          <a:ln w="12700">
            <a:solidFill>
              <a:srgbClr val="1E40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9144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Timeline — 12 Weeks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046720" y="91440"/>
            <a:ext cx="822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17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0" y="5029200"/>
            <a:ext cx="9144000" cy="27432"/>
          </a:xfrm>
          <a:prstGeom prst="rect">
            <a:avLst/>
          </a:prstGeom>
          <a:solidFill>
            <a:srgbClr val="AED6F1"/>
          </a:solidFill>
          <a:ln w="12700">
            <a:solidFill>
              <a:srgbClr val="AED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74320" y="5047488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Sugarcane Disease Detection · MobileNetV2 + XAI · 2026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20040" y="777240"/>
            <a:ext cx="8503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4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structured 12-week plan to complete this research on time: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0040" y="1261872"/>
            <a:ext cx="2423160" cy="50292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20040" y="1261872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1–2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834640" y="1335024"/>
            <a:ext cx="3535680" cy="347472"/>
          </a:xfrm>
          <a:prstGeom prst="rect">
            <a:avLst/>
          </a:prstGeom>
          <a:solidFill>
            <a:srgbClr val="2E86C1">
              <a:alpha val="65000"/>
            </a:srgbClr>
          </a:solidFill>
          <a:ln w="1016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480048" y="1261872"/>
            <a:ext cx="22067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papers &amp; collect photos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0040" y="1883664"/>
            <a:ext cx="2423160" cy="502920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20040" y="1883664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3–4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834640" y="1956816"/>
            <a:ext cx="3535680" cy="347472"/>
          </a:xfrm>
          <a:prstGeom prst="rect">
            <a:avLst/>
          </a:prstGeom>
          <a:solidFill>
            <a:srgbClr val="1A7A4A">
              <a:alpha val="65000"/>
            </a:srgbClr>
          </a:solidFill>
          <a:ln w="10160">
            <a:solidFill>
              <a:srgbClr val="1A7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480048" y="1883664"/>
            <a:ext cx="22067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and prepare images for training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20040" y="2505456"/>
            <a:ext cx="2423160" cy="502920"/>
          </a:xfrm>
          <a:prstGeom prst="rect">
            <a:avLst/>
          </a:prstGeom>
          <a:solidFill>
            <a:srgbClr val="7D3C98"/>
          </a:solidFill>
          <a:ln w="12700">
            <a:solidFill>
              <a:srgbClr val="7D3C9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20040" y="2505456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5–7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834640" y="2578608"/>
            <a:ext cx="4862809" cy="347472"/>
          </a:xfrm>
          <a:prstGeom prst="rect">
            <a:avLst/>
          </a:prstGeom>
          <a:solidFill>
            <a:srgbClr val="7D3C98">
              <a:alpha val="65000"/>
            </a:srgbClr>
          </a:solidFill>
          <a:ln w="10160">
            <a:solidFill>
              <a:srgbClr val="7D3C9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788889" y="2505456"/>
            <a:ext cx="128016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and train MobileNetV2 model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0040" y="3127248"/>
            <a:ext cx="2423160" cy="502920"/>
          </a:xfrm>
          <a:prstGeom prst="rect">
            <a:avLst/>
          </a:prstGeom>
          <a:solidFill>
            <a:srgbClr val="D35400"/>
          </a:solidFill>
          <a:ln w="12700">
            <a:solidFill>
              <a:srgbClr val="D354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20040" y="3127248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8–9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834640" y="3200400"/>
            <a:ext cx="3535680" cy="347472"/>
          </a:xfrm>
          <a:prstGeom prst="rect">
            <a:avLst/>
          </a:prstGeom>
          <a:solidFill>
            <a:srgbClr val="D35400">
              <a:alpha val="65000"/>
            </a:srgbClr>
          </a:solidFill>
          <a:ln w="10160">
            <a:solidFill>
              <a:srgbClr val="D354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480048" y="3127248"/>
            <a:ext cx="22067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Grad-CAM explanation feature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20040" y="3749040"/>
            <a:ext cx="2423160" cy="5029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20040" y="374904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10–11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2834640" y="3822192"/>
            <a:ext cx="3535680" cy="347472"/>
          </a:xfrm>
          <a:prstGeom prst="rect">
            <a:avLst/>
          </a:prstGeom>
          <a:solidFill>
            <a:srgbClr val="C0392B">
              <a:alpha val="65000"/>
            </a:srgbClr>
          </a:solidFill>
          <a:ln w="1016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480048" y="3749040"/>
            <a:ext cx="22067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the model and improve accuracy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20040" y="4370832"/>
            <a:ext cx="2423160" cy="502920"/>
          </a:xfrm>
          <a:prstGeom prst="rect">
            <a:avLst/>
          </a:prstGeom>
          <a:solidFill>
            <a:srgbClr val="117A65"/>
          </a:solidFill>
          <a:ln w="12700">
            <a:solidFill>
              <a:srgbClr val="117A6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320040" y="4370832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12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2834640" y="4443984"/>
            <a:ext cx="1767840" cy="347472"/>
          </a:xfrm>
          <a:prstGeom prst="rect">
            <a:avLst/>
          </a:prstGeom>
          <a:solidFill>
            <a:srgbClr val="117A65">
              <a:alpha val="65000"/>
            </a:srgbClr>
          </a:solidFill>
          <a:ln w="10160">
            <a:solidFill>
              <a:srgbClr val="117A6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712208" y="4370832"/>
            <a:ext cx="39745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final report and submit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320040" y="4498848"/>
            <a:ext cx="8503920" cy="502920"/>
          </a:xfrm>
          <a:prstGeom prst="rect">
            <a:avLst/>
          </a:prstGeom>
          <a:solidFill>
            <a:srgbClr val="EBF5FB"/>
          </a:solidFill>
          <a:ln w="12700">
            <a:solidFill>
              <a:srgbClr val="AED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57200" y="4498848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4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Duration: 12 weeks  |  Start: Week 1  |  Final Submission: Week 12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4073"/>
          </a:solidFill>
          <a:ln w="12700">
            <a:solidFill>
              <a:srgbClr val="1E40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9144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046720" y="91440"/>
            <a:ext cx="822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17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0" y="5029200"/>
            <a:ext cx="9144000" cy="27432"/>
          </a:xfrm>
          <a:prstGeom prst="rect">
            <a:avLst/>
          </a:prstGeom>
          <a:solidFill>
            <a:srgbClr val="AED6F1"/>
          </a:solidFill>
          <a:ln w="12700">
            <a:solidFill>
              <a:srgbClr val="AED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74320" y="5047488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Sugarcane Disease Detection · MobileNetV2 + XAI · 2026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20040" y="777240"/>
            <a:ext cx="8503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4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this study is done, the following steps are planned: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0040" y="1261872"/>
            <a:ext cx="4114800" cy="1755648"/>
          </a:xfrm>
          <a:prstGeom prst="rect">
            <a:avLst/>
          </a:prstGeom>
          <a:solidFill>
            <a:srgbClr val="D6EAF8"/>
          </a:solidFill>
          <a:ln w="15240">
            <a:solidFill>
              <a:srgbClr val="2E86C1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84632" y="1353312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Mobile App for Farmers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84632" y="1792224"/>
            <a:ext cx="3657600" cy="27432"/>
          </a:xfrm>
          <a:prstGeom prst="rect">
            <a:avLst/>
          </a:prstGeom>
          <a:solidFill>
            <a:srgbClr val="2E86C1">
              <a:alpha val="40000"/>
            </a:srgbClr>
          </a:solidFill>
          <a:ln w="12700">
            <a:solidFill>
              <a:srgbClr val="2E86C1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84632" y="1883664"/>
            <a:ext cx="374904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 the AI into an Android app. Farmers take a photo — the app shows the disease name and highlights where it is on the leaf.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754880" y="1261872"/>
            <a:ext cx="4114800" cy="1755648"/>
          </a:xfrm>
          <a:prstGeom prst="rect">
            <a:avLst/>
          </a:prstGeom>
          <a:solidFill>
            <a:srgbClr val="FDEBD0"/>
          </a:solidFill>
          <a:ln w="15240">
            <a:solidFill>
              <a:srgbClr val="D3540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919472" y="1353312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35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on Small Devices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919472" y="1792224"/>
            <a:ext cx="3657600" cy="27432"/>
          </a:xfrm>
          <a:prstGeom prst="rect">
            <a:avLst/>
          </a:prstGeom>
          <a:solidFill>
            <a:srgbClr val="D35400">
              <a:alpha val="40000"/>
            </a:srgbClr>
          </a:solidFill>
          <a:ln w="12700">
            <a:solidFill>
              <a:srgbClr val="D35400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919472" y="1883664"/>
            <a:ext cx="374904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the system on a Raspberry Pi or similar cheap computer so it can work in the field without internet.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20040" y="3182112"/>
            <a:ext cx="4114800" cy="1755648"/>
          </a:xfrm>
          <a:prstGeom prst="rect">
            <a:avLst/>
          </a:prstGeom>
          <a:solidFill>
            <a:srgbClr val="D5F5E3"/>
          </a:solidFill>
          <a:ln w="15240">
            <a:solidFill>
              <a:srgbClr val="1A7A4A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84632" y="3273552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with Smart Farms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484632" y="3712464"/>
            <a:ext cx="3657600" cy="27432"/>
          </a:xfrm>
          <a:prstGeom prst="rect">
            <a:avLst/>
          </a:prstGeom>
          <a:solidFill>
            <a:srgbClr val="1A7A4A">
              <a:alpha val="40000"/>
            </a:srgbClr>
          </a:solidFill>
          <a:ln w="12700">
            <a:solidFill>
              <a:srgbClr val="1A7A4A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84632" y="3803904"/>
            <a:ext cx="374904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the AI with sensors and irrigation systems so the farm can respond automatically when disease is detected.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754880" y="3182112"/>
            <a:ext cx="4114800" cy="1755648"/>
          </a:xfrm>
          <a:prstGeom prst="rect">
            <a:avLst/>
          </a:prstGeom>
          <a:solidFill>
            <a:srgbClr val="E8DAEF"/>
          </a:solidFill>
          <a:ln w="15240">
            <a:solidFill>
              <a:srgbClr val="7D3C9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919472" y="3273552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7D3C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Expand to More Crops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4919472" y="3712464"/>
            <a:ext cx="3657600" cy="27432"/>
          </a:xfrm>
          <a:prstGeom prst="rect">
            <a:avLst/>
          </a:prstGeom>
          <a:solidFill>
            <a:srgbClr val="7D3C98">
              <a:alpha val="40000"/>
            </a:srgbClr>
          </a:solidFill>
          <a:ln w="12700">
            <a:solidFill>
              <a:srgbClr val="7D3C98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919472" y="3803904"/>
            <a:ext cx="374904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the same system to identify diseases in wheat, cotton, rice, and other important crops.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4073"/>
          </a:solidFill>
          <a:ln w="12700">
            <a:solidFill>
              <a:srgbClr val="1E40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9144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 — Part 1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046720" y="91440"/>
            <a:ext cx="822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17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0" y="5029200"/>
            <a:ext cx="9144000" cy="27432"/>
          </a:xfrm>
          <a:prstGeom prst="rect">
            <a:avLst/>
          </a:prstGeom>
          <a:solidFill>
            <a:srgbClr val="AED6F1"/>
          </a:solidFill>
          <a:ln w="12700">
            <a:solidFill>
              <a:srgbClr val="AED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74320" y="5047488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Sugarcane Disease Detection · MobileNetV2 + XAI · 2026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20040" y="777240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4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cited in this research proposal: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0040" y="1188720"/>
            <a:ext cx="8503920" cy="566928"/>
          </a:xfrm>
          <a:prstGeom prst="rect">
            <a:avLst/>
          </a:prstGeom>
          <a:solidFill>
            <a:srgbClr val="EBF5FB"/>
          </a:solidFill>
          <a:ln w="6350">
            <a:solidFill>
              <a:srgbClr val="AED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20040" y="1188720"/>
            <a:ext cx="475488" cy="566928"/>
          </a:xfrm>
          <a:prstGeom prst="rect">
            <a:avLst/>
          </a:prstGeom>
          <a:solidFill>
            <a:srgbClr val="1E4073"/>
          </a:solidFill>
          <a:ln w="12700">
            <a:solidFill>
              <a:srgbClr val="1E40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20040" y="1188720"/>
            <a:ext cx="47548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68680" y="1225296"/>
            <a:ext cx="78638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K. A. S. Budhale &amp; B. V. Patil — "Sugarcane Disease Detection Using Advanced Machine Learning and Image Processing Techniques" — IEEE ICEI 2026, Pune, India. DOI: 10.1109/ICEI65890.2026.11447643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0040" y="1801368"/>
            <a:ext cx="850392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AED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20040" y="1801368"/>
            <a:ext cx="475488" cy="566928"/>
          </a:xfrm>
          <a:prstGeom prst="rect">
            <a:avLst/>
          </a:prstGeom>
          <a:solidFill>
            <a:srgbClr val="1E4073"/>
          </a:solidFill>
          <a:ln w="12700">
            <a:solidFill>
              <a:srgbClr val="1E40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20040" y="1801368"/>
            <a:ext cx="47548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68680" y="1837944"/>
            <a:ext cx="78638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R. A. Reddy, S. Singla &amp; R. Gupta — "Efficient Classification of Sugarcane Leaf Disease Using Fine-Tuned MobileNetV2" — IEEE IDCIoT 2025, pp. 1647–1652. DOI: 10.1109/ICSIMA63802.2025.10914747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0040" y="2414016"/>
            <a:ext cx="8503920" cy="566928"/>
          </a:xfrm>
          <a:prstGeom prst="rect">
            <a:avLst/>
          </a:prstGeom>
          <a:solidFill>
            <a:srgbClr val="EBF5FB"/>
          </a:solidFill>
          <a:ln w="6350">
            <a:solidFill>
              <a:srgbClr val="AED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320040" y="2414016"/>
            <a:ext cx="475488" cy="566928"/>
          </a:xfrm>
          <a:prstGeom prst="rect">
            <a:avLst/>
          </a:prstGeom>
          <a:solidFill>
            <a:srgbClr val="1E4073"/>
          </a:solidFill>
          <a:ln w="12700">
            <a:solidFill>
              <a:srgbClr val="1E40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20040" y="2414016"/>
            <a:ext cx="47548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68680" y="2450592"/>
            <a:ext cx="78638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Saravanan S. et al. — "Transfer Learning Approach to Sugarcane Foliar Disease Classification with State-of-the-Art Sugarcane Database" — IEEE ICCICA 2021. DOI: 10.1109/ICCICA52458.2021.9697312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0040" y="3026664"/>
            <a:ext cx="850392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AED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320040" y="3026664"/>
            <a:ext cx="475488" cy="566928"/>
          </a:xfrm>
          <a:prstGeom prst="rect">
            <a:avLst/>
          </a:prstGeom>
          <a:solidFill>
            <a:srgbClr val="1E4073"/>
          </a:solidFill>
          <a:ln w="12700">
            <a:solidFill>
              <a:srgbClr val="1E40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20040" y="3026664"/>
            <a:ext cx="47548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68680" y="3063240"/>
            <a:ext cx="78638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Bhoomika et al. — "EfficientNetB0-Based Deep Learning Model for Sugarcane Leaf Disease Detection and Classification" — IEEE Conference, Punjab, India, 2025.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0040" y="3639312"/>
            <a:ext cx="8503920" cy="566928"/>
          </a:xfrm>
          <a:prstGeom prst="rect">
            <a:avLst/>
          </a:prstGeom>
          <a:solidFill>
            <a:srgbClr val="EBF5FB"/>
          </a:solidFill>
          <a:ln w="6350">
            <a:solidFill>
              <a:srgbClr val="AED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320040" y="3639312"/>
            <a:ext cx="475488" cy="566928"/>
          </a:xfrm>
          <a:prstGeom prst="rect">
            <a:avLst/>
          </a:prstGeom>
          <a:solidFill>
            <a:srgbClr val="1E4073"/>
          </a:solidFill>
          <a:ln w="12700">
            <a:solidFill>
              <a:srgbClr val="1E40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20040" y="3639312"/>
            <a:ext cx="47548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[5]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68680" y="3675888"/>
            <a:ext cx="78638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Kanade &amp; P. Paygude — "Precision Agriculture in Sugarcane: Disease Detection and Severity Classification Methods" — IEEE Conference, Pune, India, 2024.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20040" y="4251960"/>
            <a:ext cx="850392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AED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320040" y="4251960"/>
            <a:ext cx="475488" cy="566928"/>
          </a:xfrm>
          <a:prstGeom prst="rect">
            <a:avLst/>
          </a:prstGeom>
          <a:solidFill>
            <a:srgbClr val="1E4073"/>
          </a:solidFill>
          <a:ln w="12700">
            <a:solidFill>
              <a:srgbClr val="1E40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320040" y="4251960"/>
            <a:ext cx="47548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[6]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68680" y="4288536"/>
            <a:ext cx="78638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Gayathri S., Akilesh S., Dharshan P. &amp; Karthick S. — "Enhanced Sugarcane Leaf Disease Prediction Using Deep Learning" — IEEE Conference, Erode, India, 2025, pp. 987–992.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4073"/>
          </a:solidFill>
          <a:ln w="12700">
            <a:solidFill>
              <a:srgbClr val="1E40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9144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 — Part 2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046720" y="91440"/>
            <a:ext cx="822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17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0" y="5029200"/>
            <a:ext cx="9144000" cy="27432"/>
          </a:xfrm>
          <a:prstGeom prst="rect">
            <a:avLst/>
          </a:prstGeom>
          <a:solidFill>
            <a:srgbClr val="AED6F1"/>
          </a:solidFill>
          <a:ln w="12700">
            <a:solidFill>
              <a:srgbClr val="AED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74320" y="5047488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Sugarcane Disease Detection · MobileNetV2 + XAI · 2026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20040" y="777240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4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cited in this research proposal (continued):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0040" y="1188720"/>
            <a:ext cx="8503920" cy="566928"/>
          </a:xfrm>
          <a:prstGeom prst="rect">
            <a:avLst/>
          </a:prstGeom>
          <a:solidFill>
            <a:srgbClr val="EBF5FB"/>
          </a:solidFill>
          <a:ln w="6350">
            <a:solidFill>
              <a:srgbClr val="AED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20040" y="1188720"/>
            <a:ext cx="475488" cy="566928"/>
          </a:xfrm>
          <a:prstGeom prst="rect">
            <a:avLst/>
          </a:prstGeom>
          <a:solidFill>
            <a:srgbClr val="1E4073"/>
          </a:solidFill>
          <a:ln w="12700">
            <a:solidFill>
              <a:srgbClr val="1E40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20040" y="1188720"/>
            <a:ext cx="47548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[7]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68680" y="1225296"/>
            <a:ext cx="78638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H. Phong &amp; L. Cuong — "Detection and Classification of Sugarcane Diseases in Colour Leaf Images Using Deep Neural Network" — IEEE Conference, Hanoi, Vietnam, 2025.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0040" y="1801368"/>
            <a:ext cx="850392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AED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20040" y="1801368"/>
            <a:ext cx="475488" cy="566928"/>
          </a:xfrm>
          <a:prstGeom prst="rect">
            <a:avLst/>
          </a:prstGeom>
          <a:solidFill>
            <a:srgbClr val="1E4073"/>
          </a:solidFill>
          <a:ln w="12700">
            <a:solidFill>
              <a:srgbClr val="1E40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20040" y="1801368"/>
            <a:ext cx="47548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[8]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68680" y="1837944"/>
            <a:ext cx="78638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V. K. Gupta, G. Sharma, Vidisha &amp; M. K. Singh — "A Deep Learning Based Approach for Sugarcane Disease Detection" — IEEE ASIANCON 2023.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0040" y="2414016"/>
            <a:ext cx="8503920" cy="566928"/>
          </a:xfrm>
          <a:prstGeom prst="rect">
            <a:avLst/>
          </a:prstGeom>
          <a:solidFill>
            <a:srgbClr val="EBF5FB"/>
          </a:solidFill>
          <a:ln w="6350">
            <a:solidFill>
              <a:srgbClr val="AED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320040" y="2414016"/>
            <a:ext cx="475488" cy="566928"/>
          </a:xfrm>
          <a:prstGeom prst="rect">
            <a:avLst/>
          </a:prstGeom>
          <a:solidFill>
            <a:srgbClr val="1E4073"/>
          </a:solidFill>
          <a:ln w="12700">
            <a:solidFill>
              <a:srgbClr val="1E40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20040" y="2414016"/>
            <a:ext cx="47548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[9]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68680" y="2450592"/>
            <a:ext cx="78638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Saravanan Srinivasan et al. — "Sugarcane Leaf Disease Classification Using Deep Neural Network" — BMC Plant Biology, vol. 25, Mar. 2025. DOI: 10.1186/s12870-025-06289-0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0040" y="3200400"/>
            <a:ext cx="8503920" cy="457200"/>
          </a:xfrm>
          <a:prstGeom prst="rect">
            <a:avLst/>
          </a:prstGeom>
          <a:solidFill>
            <a:srgbClr val="E8F8F5"/>
          </a:solidFill>
          <a:ln w="12700">
            <a:solidFill>
              <a:srgbClr val="A9D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20040" y="3200400"/>
            <a:ext cx="8503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for your attention  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2097</Words>
  <Application>Microsoft Office PowerPoint</Application>
  <PresentationFormat>On-screen Show (16:9)</PresentationFormat>
  <Paragraphs>364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Sugarcane Leaf Disease Detection Using MobileNetV2 with XAI</dc:title>
  <dc:subject>PptxGenJS Presentation</dc:subject>
  <dc:creator>Imran, M. Saeed, Shafique Ahmed</dc:creator>
  <cp:lastModifiedBy>Muhammad Saeed</cp:lastModifiedBy>
  <cp:revision>3</cp:revision>
  <dcterms:created xsi:type="dcterms:W3CDTF">2026-05-05T18:33:11Z</dcterms:created>
  <dcterms:modified xsi:type="dcterms:W3CDTF">2026-05-05T19:22:37Z</dcterms:modified>
</cp:coreProperties>
</file>